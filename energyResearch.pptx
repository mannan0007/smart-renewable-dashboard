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0"/>
  </p:handoutMasterIdLst>
  <p:sldIdLst>
    <p:sldId id="256" r:id="rId3"/>
    <p:sldId id="257" r:id="rId5"/>
    <p:sldId id="269" r:id="rId6"/>
    <p:sldId id="270" r:id="rId7"/>
    <p:sldId id="271" r:id="rId8"/>
    <p:sldId id="272" r:id="rId9"/>
    <p:sldId id="273" r:id="rId10"/>
    <p:sldId id="274" r:id="rId11"/>
    <p:sldId id="276" r:id="rId12"/>
    <p:sldId id="277" r:id="rId13"/>
    <p:sldId id="278" r:id="rId14"/>
    <p:sldId id="279" r:id="rId15"/>
    <p:sldId id="280" r:id="rId16"/>
    <p:sldId id="281" r:id="rId17"/>
    <p:sldId id="282" r:id="rId18"/>
    <p:sldId id="268" r:id="rId19"/>
  </p:sldIdLst>
  <p:sldSz cx="9144000" cy="6858000" type="screen4x3"/>
  <p:notesSz cx="7559675" cy="106914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7" d="100"/>
          <a:sy n="77" d="100"/>
        </p:scale>
        <p:origin x="1546"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customXml" Target="../customXml/item3.xml"/><Relationship Id="rId25" Type="http://schemas.openxmlformats.org/officeDocument/2006/relationships/customXml" Target="../customXml/item2.xml"/><Relationship Id="rId24" Type="http://schemas.openxmlformats.org/officeDocument/2006/relationships/customXml" Target="../customXml/item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fld>
            <a:endParaRPr lang="en-US"/>
          </a:p>
        </p:txBody>
      </p:sp>
      <p:sp>
        <p:nvSpPr>
          <p:cNvPr id="4" name="Footer Placeholder 3"/>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endParaRPr lang="en-US"/>
          </a:p>
        </p:txBody>
      </p:sp>
      <p:sp>
        <p:nvSpPr>
          <p:cNvPr id="5" name="Slide Number Placeholder 4"/>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fld>
            <a:endParaRPr 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fld>
            <a:endParaRPr 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fld>
            <a:endParaRPr lang="en-US"/>
          </a:p>
        </p:txBody>
      </p:sp>
      <p:sp>
        <p:nvSpPr>
          <p:cNvPr id="5" name="Footer Placeholder 4"/>
          <p:cNvSpPr>
            <a:spLocks noGrp="1"/>
          </p:cNvSpPr>
          <p:nvPr>
            <p:ph type="ftr" sz="quarter" idx="4"/>
          </p:nvPr>
        </p:nvSpPr>
        <p:spPr/>
        <p:txBody>
          <a:bodyPr/>
          <a:lstStyle/>
          <a:p>
            <a:r>
              <a:rPr lang="en-US"/>
              <a:t>Name of the faculty [Group: G00] [Sem:2nd]</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jpe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3"/>
          <a:srcRect b="10718"/>
          <a:stretch>
            <a:fillRect/>
          </a:stretch>
        </p:blipFill>
        <p:spPr>
          <a:xfrm>
            <a:off x="6553080" y="228600"/>
            <a:ext cx="2057040" cy="634680"/>
          </a:xfrm>
          <a:prstGeom prst="rect">
            <a:avLst/>
          </a:prstGeom>
          <a:ln w="9360">
            <a:noFill/>
          </a:ln>
        </p:spPr>
      </p:pic>
      <p:pic>
        <p:nvPicPr>
          <p:cNvPr id="3" name="Picture 10" descr="LOGO.gif"/>
          <p:cNvPicPr/>
          <p:nvPr/>
        </p:nvPicPr>
        <p:blipFill>
          <a:blip r:embed="rId13"/>
          <a:srcRect b="10718"/>
          <a:stretch>
            <a:fillRect/>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3"/>
            <a:srcRect b="10718"/>
            <a:stretch>
              <a:fillRect/>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4"/>
          <a:stretch>
            <a:fillRect/>
          </a:stretch>
        </p:blipFill>
        <p:spPr>
          <a:xfrm>
            <a:off x="6553080" y="228600"/>
            <a:ext cx="1920600" cy="609120"/>
          </a:xfrm>
          <a:prstGeom prst="rect">
            <a:avLst/>
          </a:prstGeom>
          <a:ln w="9360">
            <a:noFill/>
          </a:ln>
        </p:spPr>
      </p:pic>
      <p:pic>
        <p:nvPicPr>
          <p:cNvPr id="9" name="Picture 10" descr="LOGO.gif"/>
          <p:cNvPicPr/>
          <p:nvPr/>
        </p:nvPicPr>
        <p:blipFill>
          <a:blip r:embed="rId13"/>
          <a:srcRect b="10718"/>
          <a:stretch>
            <a:fillRect/>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3"/>
            <a:srcRect b="10718"/>
            <a:stretch>
              <a:fillRect/>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4"/>
          <a:stretch>
            <a:fillRect/>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panose="020F0502020204030204"/>
                <a:ea typeface="MS PGothic" panose="020B0600070205080204" charset="-128"/>
              </a:rPr>
              <a:t>Click to edit Master title style</a:t>
            </a:r>
            <a:endParaRPr lang="en-US" sz="3000" b="0" strike="noStrike" spc="-1" dirty="0">
              <a:solidFill>
                <a:srgbClr val="000000"/>
              </a:solidFill>
              <a:latin typeface="Arial" panose="020B0604020202020204"/>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2900" indent="-342900">
              <a:lnSpc>
                <a:spcPct val="100000"/>
              </a:lnSpc>
              <a:spcBef>
                <a:spcPts val="640"/>
              </a:spcBef>
              <a:buClr>
                <a:srgbClr val="000000"/>
              </a:buClr>
              <a:buFont typeface="Arial" panose="020B0604020202020204"/>
              <a:buChar char="•"/>
            </a:pPr>
            <a:r>
              <a:rPr lang="en-US" sz="3200" b="0" strike="noStrike" spc="-1" dirty="0">
                <a:solidFill>
                  <a:srgbClr val="000000"/>
                </a:solidFill>
                <a:latin typeface="Calibri" panose="020F0502020204030204"/>
                <a:ea typeface="MS PGothic" panose="020B0600070205080204" charset="-128"/>
              </a:rPr>
              <a:t>Click to edit Master text styles</a:t>
            </a:r>
            <a:endParaRPr lang="en-US" sz="3200" b="0" strike="noStrike" spc="-1" dirty="0">
              <a:solidFill>
                <a:srgbClr val="000000"/>
              </a:solidFill>
              <a:latin typeface="Calibri" panose="020F0502020204030204"/>
            </a:endParaRPr>
          </a:p>
          <a:p>
            <a:pPr marL="742950" lvl="1" indent="-285750">
              <a:lnSpc>
                <a:spcPct val="100000"/>
              </a:lnSpc>
              <a:spcBef>
                <a:spcPts val="560"/>
              </a:spcBef>
              <a:buClr>
                <a:srgbClr val="000000"/>
              </a:buClr>
              <a:buFont typeface="Arial" panose="020B0604020202020204"/>
              <a:buChar char="–"/>
            </a:pPr>
            <a:r>
              <a:rPr lang="en-US" sz="2800" b="0" strike="noStrike" spc="-1" dirty="0">
                <a:solidFill>
                  <a:srgbClr val="000000"/>
                </a:solidFill>
                <a:latin typeface="Calibri" panose="020F0502020204030204"/>
                <a:ea typeface="MS PGothic" panose="020B0600070205080204" charset="-128"/>
              </a:rPr>
              <a:t>Second level</a:t>
            </a:r>
            <a:endParaRPr lang="en-US" sz="2800" b="0" strike="noStrike" spc="-1" dirty="0">
              <a:solidFill>
                <a:srgbClr val="000000"/>
              </a:solidFill>
              <a:latin typeface="Calibri" panose="020F0502020204030204"/>
            </a:endParaRPr>
          </a:p>
          <a:p>
            <a:pPr marL="1143000" lvl="2" indent="-227965">
              <a:lnSpc>
                <a:spcPct val="100000"/>
              </a:lnSpc>
              <a:spcBef>
                <a:spcPts val="480"/>
              </a:spcBef>
              <a:buClr>
                <a:srgbClr val="000000"/>
              </a:buClr>
              <a:buFont typeface="Arial" panose="020B0604020202020204"/>
              <a:buChar char="•"/>
            </a:pPr>
            <a:r>
              <a:rPr lang="en-US" sz="2400" b="0" strike="noStrike" spc="-1" dirty="0">
                <a:solidFill>
                  <a:srgbClr val="000000"/>
                </a:solidFill>
                <a:latin typeface="Calibri" panose="020F0502020204030204"/>
                <a:ea typeface="MS PGothic" panose="020B0600070205080204" charset="-128"/>
              </a:rPr>
              <a:t>Third level</a:t>
            </a:r>
            <a:endParaRPr lang="en-US" sz="2400" b="0" strike="noStrike" spc="-1" dirty="0">
              <a:solidFill>
                <a:srgbClr val="000000"/>
              </a:solidFill>
              <a:latin typeface="Calibri" panose="020F0502020204030204"/>
            </a:endParaRPr>
          </a:p>
          <a:p>
            <a:pPr marL="1600200" lvl="3" indent="-227965">
              <a:lnSpc>
                <a:spcPct val="100000"/>
              </a:lnSpc>
              <a:spcBef>
                <a:spcPts val="400"/>
              </a:spcBef>
              <a:buClr>
                <a:srgbClr val="000000"/>
              </a:buClr>
              <a:buFont typeface="Arial" panose="020B0604020202020204"/>
              <a:buChar char="–"/>
            </a:pPr>
            <a:r>
              <a:rPr lang="en-US" sz="2000" b="0" strike="noStrike" spc="-1" dirty="0">
                <a:solidFill>
                  <a:srgbClr val="000000"/>
                </a:solidFill>
                <a:latin typeface="Calibri" panose="020F0502020204030204"/>
                <a:ea typeface="MS PGothic" panose="020B0600070205080204" charset="-128"/>
              </a:rPr>
              <a:t>Fourth level</a:t>
            </a:r>
            <a:endParaRPr lang="en-US" sz="2000" b="0" strike="noStrike" spc="-1" dirty="0">
              <a:solidFill>
                <a:srgbClr val="000000"/>
              </a:solidFill>
              <a:latin typeface="Calibri" panose="020F0502020204030204"/>
            </a:endParaRPr>
          </a:p>
          <a:p>
            <a:pPr marL="2057400" lvl="4" indent="-227965">
              <a:lnSpc>
                <a:spcPct val="100000"/>
              </a:lnSpc>
              <a:spcBef>
                <a:spcPts val="400"/>
              </a:spcBef>
              <a:buClr>
                <a:srgbClr val="000000"/>
              </a:buClr>
              <a:buFont typeface="Arial" panose="020B0604020202020204"/>
              <a:buChar char="»"/>
            </a:pPr>
            <a:r>
              <a:rPr lang="en-US" sz="2000" b="0" strike="noStrike" spc="-1" dirty="0">
                <a:solidFill>
                  <a:srgbClr val="000000"/>
                </a:solidFill>
                <a:latin typeface="Calibri" panose="020F0502020204030204"/>
                <a:ea typeface="MS PGothic" panose="020B0600070205080204" charset="-128"/>
              </a:rPr>
              <a:t>Fifth level</a:t>
            </a:r>
            <a:endParaRPr lang="en-US" sz="2000" b="0" strike="noStrike" spc="-1" dirty="0">
              <a:solidFill>
                <a:srgbClr val="000000"/>
              </a:solidFill>
              <a:latin typeface="Calibri" panose="020F0502020204030204"/>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panose="02020603050405020304"/>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panose="02020603050405020304"/>
              </a:rPr>
              <a:t>Name</a:t>
            </a:r>
            <a:endParaRPr lang="en-GB" sz="2400" b="0" strike="noStrike" spc="-1">
              <a:latin typeface="Times New Roman" panose="02020603050405020304"/>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panose="020F0502020204030204"/>
                <a:ea typeface="MS PGothic" panose="020B0600070205080204" charset="-128"/>
              </a:rPr>
            </a:fld>
            <a:endParaRPr lang="en-GB" sz="1200" b="0" strike="noStrike" spc="-1">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endParaRPr lang="en-US" sz="2000"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3200" dirty="0">
                <a:solidFill>
                  <a:schemeClr val="tx1"/>
                </a:solidFill>
                <a:latin typeface="Times New Roman" panose="02020603050405020304" pitchFamily="18" charset="0"/>
                <a:ea typeface="Fraunces Extra Bold" pitchFamily="34" charset="-122"/>
                <a:cs typeface="Times New Roman" panose="02020603050405020304" pitchFamily="18" charset="0"/>
                <a:sym typeface="+mn-ea"/>
              </a:rPr>
              <a:t>A Comprehensive Review of Sustainable and Renewable Energy Sources for Future Power Systems</a:t>
            </a: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br>
            <a:r>
              <a:rPr lang="en-US" sz="2000" dirty="0">
                <a:solidFill>
                  <a:schemeClr val="tx1"/>
                </a:solidFill>
                <a:latin typeface="Times New Roman" panose="02020603050405020304" pitchFamily="18" charset="0"/>
                <a:ea typeface="Nobile" panose="02000503050000020004" pitchFamily="34" charset="-122"/>
                <a:cs typeface="Times New Roman" panose="02020603050405020304" pitchFamily="18" charset="0"/>
                <a:sym typeface="+mn-ea"/>
              </a:rPr>
              <a:t>Mannan Puri 2210991886</a:t>
            </a:r>
            <a:endParaRPr lang="en-US" sz="2000" dirty="0">
              <a:solidFill>
                <a:schemeClr val="tx1"/>
              </a:solidFill>
              <a:latin typeface="Times New Roman" panose="02020603050405020304" pitchFamily="18" charset="0"/>
              <a:ea typeface="Nobile" panose="02000503050000020004" pitchFamily="34" charset="-122"/>
              <a:cs typeface="Times New Roman" panose="02020603050405020304" pitchFamily="18" charset="0"/>
              <a:sym typeface="+mn-ea"/>
            </a:endParaRPr>
          </a:p>
          <a:p>
            <a:pPr algn="ctr">
              <a:lnSpc>
                <a:spcPct val="100000"/>
              </a:lnSpc>
              <a:spcBef>
                <a:spcPts val="400"/>
              </a:spcBef>
            </a:pPr>
            <a:r>
              <a:rPr lang="en-US" sz="2000" dirty="0">
                <a:solidFill>
                  <a:schemeClr val="tx1"/>
                </a:solidFill>
                <a:latin typeface="Times New Roman" panose="02020603050405020304" pitchFamily="18" charset="0"/>
                <a:ea typeface="Nobile" panose="02000503050000020004" pitchFamily="34" charset="-122"/>
                <a:cs typeface="Times New Roman" panose="02020603050405020304" pitchFamily="18" charset="0"/>
                <a:sym typeface="+mn-ea"/>
              </a:rPr>
              <a:t> Ayush Rana 2210991429</a:t>
            </a:r>
            <a:endParaRPr lang="en-US" sz="2000" dirty="0">
              <a:solidFill>
                <a:schemeClr val="tx1"/>
              </a:solidFill>
              <a:latin typeface="Times New Roman" panose="02020603050405020304" pitchFamily="18" charset="0"/>
              <a:ea typeface="Nobile" panose="02000503050000020004" pitchFamily="34" charset="-122"/>
              <a:cs typeface="Times New Roman" panose="02020603050405020304" pitchFamily="18" charset="0"/>
              <a:sym typeface="+mn-ea"/>
            </a:endParaRPr>
          </a:p>
          <a:p>
            <a:pPr algn="ctr">
              <a:lnSpc>
                <a:spcPct val="100000"/>
              </a:lnSpc>
              <a:spcBef>
                <a:spcPts val="400"/>
              </a:spcBef>
            </a:pPr>
            <a:r>
              <a:rPr lang="en-US" sz="2000" dirty="0">
                <a:solidFill>
                  <a:schemeClr val="tx1"/>
                </a:solidFill>
                <a:latin typeface="Times New Roman" panose="02020603050405020304" pitchFamily="18" charset="0"/>
                <a:ea typeface="Nobile" panose="02000503050000020004" pitchFamily="34" charset="-122"/>
                <a:cs typeface="Times New Roman" panose="02020603050405020304" pitchFamily="18" charset="0"/>
                <a:sym typeface="+mn-ea"/>
              </a:rPr>
              <a:t> Muskan Rehni 2210990591</a:t>
            </a:r>
            <a:endPar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Supervised By</a:t>
            </a:r>
            <a:endPar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Mr Ashish Kumar</a:t>
            </a:r>
            <a:endParaRPr lang="en-US" sz="2000"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panose="020B0600070205080204" charset="-128"/>
                <a:cs typeface="Times New Roman" panose="02020603050405020304" pitchFamily="18" charset="0"/>
              </a:rPr>
              <a:t>Department of </a:t>
            </a:r>
            <a:r>
              <a:rPr lang="en-US" sz="2400" b="0" strike="noStrike" spc="-1" dirty="0">
                <a:latin typeface="Times New Roman" panose="02020603050405020304" pitchFamily="18" charset="0"/>
                <a:ea typeface="MS PGothic" panose="020B0600070205080204" charset="-128"/>
                <a:cs typeface="Times New Roman" panose="02020603050405020304" pitchFamily="18" charset="0"/>
              </a:rPr>
              <a:t>Computer Science and Engineering, </a:t>
            </a:r>
            <a:endParaRPr lang="en-US" sz="2400" b="0" strike="noStrike"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400" b="0" strike="noStrike" spc="-1" dirty="0">
                <a:latin typeface="Times New Roman" panose="02020603050405020304" pitchFamily="18" charset="0"/>
                <a:ea typeface="MS PGothic" panose="020B0600070205080204" charset="-128"/>
                <a:cs typeface="Times New Roman" panose="02020603050405020304" pitchFamily="18" charset="0"/>
              </a:rPr>
              <a:t>Chitkara University, Punjab</a:t>
            </a:r>
            <a:endParaRPr lang="en-US" sz="2400" b="0" strike="noStrike"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50000"/>
              </a:lnSpc>
              <a:spcBef>
                <a:spcPts val="400"/>
              </a:spcBef>
            </a:pPr>
            <a:endParaRPr lang="en-US" sz="2000" b="0" strike="noStrike" spc="-1" dirty="0">
              <a:solidFill>
                <a:srgbClr val="000000"/>
              </a:solidFill>
              <a:latin typeface="Calibri" panose="020F0502020204030204"/>
            </a:endParaRPr>
          </a:p>
          <a:p>
            <a:pPr>
              <a:lnSpc>
                <a:spcPct val="100000"/>
              </a:lnSpc>
              <a:spcBef>
                <a:spcPts val="640"/>
              </a:spcBef>
            </a:pPr>
            <a:endParaRPr lang="en-US" sz="2000" b="0" strike="noStrike" spc="-1" dirty="0">
              <a:solidFill>
                <a:srgbClr val="000000"/>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altLang="en-GB" sz="3200" dirty="0">
                <a:latin typeface="Times New Roman" panose="02020603050405020304" pitchFamily="18" charset="0"/>
                <a:cs typeface="Times New Roman" panose="02020603050405020304" pitchFamily="18" charset="0"/>
              </a:rPr>
              <a:t>Content</a:t>
            </a:r>
            <a:endParaRPr lang="en-US" altLang="en-GB" sz="32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panose="020F0502020204030204"/>
            </a:endParaRPr>
          </a:p>
          <a:p>
            <a:pPr marL="457200" lvl="0" indent="-317500">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Introduction</a:t>
            </a:r>
            <a:endPar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buClr>
                <a:srgbClr val="000000"/>
              </a:buClr>
              <a:buSzPts val="1400"/>
              <a:buChar char="●"/>
            </a:pPr>
            <a:r>
              <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Problem Statement</a:t>
            </a:r>
            <a:endPar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buClr>
                <a:srgbClr val="000000"/>
              </a:buClr>
              <a:buSzPts val="1400"/>
              <a:buChar char="●"/>
            </a:pPr>
            <a:r>
              <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Objectives of the Research</a:t>
            </a:r>
            <a:endPar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buClr>
                <a:srgbClr val="000000"/>
              </a:buClr>
              <a:buSzPts val="1400"/>
              <a:buChar char="●"/>
            </a:pPr>
            <a:r>
              <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Renewable Energy Sources Overview</a:t>
            </a:r>
            <a:endPar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buClr>
                <a:srgbClr val="000000"/>
              </a:buClr>
              <a:buSzPts val="1400"/>
              <a:buChar char="●"/>
            </a:pPr>
            <a:r>
              <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Solar Energy</a:t>
            </a:r>
            <a:endPar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buClr>
                <a:srgbClr val="000000"/>
              </a:buClr>
              <a:buSzPts val="1400"/>
              <a:buChar char="●"/>
            </a:pPr>
            <a:r>
              <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Wind Energy</a:t>
            </a:r>
            <a:endPar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buClr>
                <a:srgbClr val="000000"/>
              </a:buClr>
              <a:buSzPts val="1400"/>
              <a:buChar char="●"/>
            </a:pPr>
            <a:r>
              <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Hydropower</a:t>
            </a:r>
            <a:endPar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buClr>
                <a:srgbClr val="000000"/>
              </a:buClr>
              <a:buSzPts val="1400"/>
              <a:buChar char="●"/>
            </a:pPr>
            <a:r>
              <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Biomass &amp; Geothermal Energy	</a:t>
            </a:r>
            <a:endPar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buClr>
                <a:srgbClr val="000000"/>
              </a:buClr>
              <a:buSzPts val="1400"/>
              <a:buChar char="●"/>
            </a:pPr>
            <a:r>
              <a:rPr lang="en-US" altLang="en-US" sz="2000" spc="-1" dirty="0">
                <a:solidFill>
                  <a:srgbClr val="000000"/>
                </a:solidFill>
                <a:latin typeface="Times New Roman" panose="02020603050405020304" pitchFamily="18" charset="0"/>
                <a:cs typeface="Times New Roman" panose="02020603050405020304" pitchFamily="18" charset="0"/>
                <a:sym typeface="+mn-ea"/>
              </a:rPr>
              <a:t>Energy Storage Systems</a:t>
            </a:r>
            <a:endParaRPr lang="en-US" altLang="en-US" sz="2000" b="0" strike="noStrike" spc="-1" dirty="0">
              <a:solidFill>
                <a:srgbClr val="000000"/>
              </a:solidFill>
              <a:latin typeface="Times New Roman" panose="02020603050405020304" pitchFamily="18" charset="0"/>
              <a:cs typeface="Times New Roman" panose="02020603050405020304" pitchFamily="18" charset="0"/>
            </a:endParaRPr>
          </a:p>
          <a:p>
            <a:pPr marL="457200" lvl="0" indent="-317500">
              <a:buClr>
                <a:srgbClr val="000000"/>
              </a:buClr>
              <a:buSzPts val="1400"/>
              <a:buChar char="●"/>
            </a:pPr>
            <a:r>
              <a:rPr lang="en-US" altLang="en-US" sz="2000" spc="-1" dirty="0">
                <a:solidFill>
                  <a:srgbClr val="000000"/>
                </a:solidFill>
                <a:latin typeface="Times New Roman" panose="02020603050405020304" pitchFamily="18" charset="0"/>
                <a:cs typeface="Times New Roman" panose="02020603050405020304" pitchFamily="18" charset="0"/>
                <a:sym typeface="+mn-ea"/>
              </a:rPr>
              <a:t>Artificial Intelligence in Energy</a:t>
            </a:r>
            <a:endParaRPr lang="en-US" altLang="en-US" sz="2000" b="0" strike="noStrike" spc="-1" dirty="0">
              <a:solidFill>
                <a:srgbClr val="000000"/>
              </a:solidFill>
              <a:latin typeface="Times New Roman" panose="02020603050405020304" pitchFamily="18" charset="0"/>
              <a:cs typeface="Times New Roman" panose="02020603050405020304" pitchFamily="18" charset="0"/>
            </a:endParaRPr>
          </a:p>
          <a:p>
            <a:pPr marL="457200" lvl="0" indent="-317500">
              <a:buClr>
                <a:srgbClr val="000000"/>
              </a:buClr>
              <a:buSzPts val="1400"/>
              <a:buChar char="●"/>
            </a:pPr>
            <a:r>
              <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Future Scope</a:t>
            </a:r>
            <a:endPar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buClr>
                <a:srgbClr val="000000"/>
              </a:buClr>
              <a:buSzPts val="1400"/>
              <a:buChar char="●"/>
            </a:pPr>
            <a:r>
              <a:rPr lang="en-US" altLang="en-US" sz="2000" spc="-1" dirty="0">
                <a:solidFill>
                  <a:srgbClr val="000000"/>
                </a:solidFill>
                <a:latin typeface="Times New Roman" panose="02020603050405020304" pitchFamily="18" charset="0"/>
                <a:cs typeface="Times New Roman" panose="02020603050405020304" pitchFamily="18" charset="0"/>
                <a:sym typeface="+mn-ea"/>
              </a:rPr>
              <a:t>Conclusion</a:t>
            </a:r>
            <a:endParaRPr lang="en-US" altLang="en-US" sz="2000" spc="-1" dirty="0">
              <a:solidFill>
                <a:srgbClr val="000000"/>
              </a:solidFill>
              <a:latin typeface="Times New Roman" panose="02020603050405020304" pitchFamily="18" charset="0"/>
              <a:cs typeface="Times New Roman" panose="02020603050405020304" pitchFamily="18" charset="0"/>
              <a:sym typeface="+mn-ea"/>
            </a:endParaRPr>
          </a:p>
          <a:p>
            <a:pPr marL="457200" lvl="0" indent="-317500">
              <a:buClr>
                <a:srgbClr val="000000"/>
              </a:buClr>
              <a:buSzPts val="1400"/>
              <a:buChar char="●"/>
            </a:pPr>
            <a:r>
              <a:rPr lang="en-US" altLang="en-US" sz="2000" spc="-1" dirty="0">
                <a:solidFill>
                  <a:srgbClr val="000000"/>
                </a:solidFill>
                <a:latin typeface="Times New Roman" panose="02020603050405020304" pitchFamily="18" charset="0"/>
                <a:cs typeface="Times New Roman" panose="02020603050405020304" pitchFamily="18" charset="0"/>
                <a:sym typeface="+mn-ea"/>
              </a:rPr>
              <a:t>References</a:t>
            </a: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panose="020F0502020204030204"/>
            </a:endParaRPr>
          </a:p>
          <a:p>
            <a:pPr>
              <a:lnSpc>
                <a:spcPct val="100000"/>
              </a:lnSpc>
              <a:spcBef>
                <a:spcPts val="400"/>
              </a:spcBef>
            </a:pPr>
            <a:endParaRPr lang="en-US" sz="1900" spc="-1" dirty="0">
              <a:solidFill>
                <a:srgbClr val="000000"/>
              </a:solidFill>
              <a:latin typeface="Calibri" panose="020F0502020204030204"/>
            </a:endParaRPr>
          </a:p>
          <a:p>
            <a:pPr>
              <a:lnSpc>
                <a:spcPct val="150000"/>
              </a:lnSpc>
              <a:spcBef>
                <a:spcPts val="400"/>
              </a:spcBef>
            </a:pPr>
            <a:endParaRPr lang="en-US" sz="1900" b="0" strike="noStrike" spc="-1" dirty="0">
              <a:solidFill>
                <a:srgbClr val="000000"/>
              </a:solidFill>
              <a:latin typeface="Calibri" panose="020F0502020204030204"/>
            </a:endParaRPr>
          </a:p>
          <a:p>
            <a:pPr>
              <a:lnSpc>
                <a:spcPct val="150000"/>
              </a:lnSpc>
              <a:spcBef>
                <a:spcPts val="400"/>
              </a:spcBef>
            </a:pPr>
            <a:endParaRPr lang="en-US" sz="1900" b="0" strike="noStrike" spc="-1" dirty="0">
              <a:solidFill>
                <a:srgbClr val="000000"/>
              </a:solidFill>
              <a:latin typeface="Calibri" panose="020F0502020204030204"/>
            </a:endParaRPr>
          </a:p>
          <a:p>
            <a:pPr>
              <a:lnSpc>
                <a:spcPct val="150000"/>
              </a:lnSpc>
              <a:spcBef>
                <a:spcPts val="400"/>
              </a:spcBef>
            </a:pPr>
            <a:endParaRPr lang="en-US" sz="1900" b="0" strike="noStrike" spc="-1" dirty="0">
              <a:solidFill>
                <a:srgbClr val="000000"/>
              </a:solidFill>
              <a:latin typeface="Calibri" panose="020F0502020204030204"/>
            </a:endParaRPr>
          </a:p>
          <a:p>
            <a:pPr>
              <a:lnSpc>
                <a:spcPct val="150000"/>
              </a:lnSpc>
              <a:spcBef>
                <a:spcPts val="400"/>
              </a:spcBef>
            </a:pPr>
            <a:endParaRPr lang="en-US" sz="1900" b="0" strike="noStrike" spc="-1" dirty="0">
              <a:solidFill>
                <a:srgbClr val="000000"/>
              </a:solidFill>
              <a:latin typeface="Calibri" panose="020F0502020204030204"/>
            </a:endParaRPr>
          </a:p>
          <a:p>
            <a:pPr>
              <a:lnSpc>
                <a:spcPct val="100000"/>
              </a:lnSpc>
              <a:spcBef>
                <a:spcPts val="400"/>
              </a:spcBef>
            </a:pPr>
            <a:endParaRPr lang="en-US" sz="1900" b="0" strike="noStrike" spc="-1" dirty="0">
              <a:solidFill>
                <a:srgbClr val="000000"/>
              </a:solidFill>
              <a:latin typeface="Calibri" panose="020F0502020204030204"/>
            </a:endParaRPr>
          </a:p>
          <a:p>
            <a:pPr>
              <a:lnSpc>
                <a:spcPct val="100000"/>
              </a:lnSpc>
              <a:spcBef>
                <a:spcPts val="400"/>
              </a:spcBef>
            </a:pPr>
            <a:endParaRPr lang="en-US" sz="1900" b="0" strike="noStrike" spc="-1" dirty="0">
              <a:solidFill>
                <a:srgbClr val="000000"/>
              </a:solidFill>
              <a:latin typeface="Calibri" panose="020F0502020204030204"/>
            </a:endParaRPr>
          </a:p>
          <a:p>
            <a:pPr>
              <a:lnSpc>
                <a:spcPct val="100000"/>
              </a:lnSpc>
              <a:spcBef>
                <a:spcPts val="400"/>
              </a:spcBef>
            </a:pPr>
            <a:endParaRPr lang="en-US" sz="1900" b="0" strike="noStrike" spc="-1" dirty="0">
              <a:solidFill>
                <a:srgbClr val="000000"/>
              </a:solidFill>
              <a:latin typeface="Calibri" panose="020F0502020204030204"/>
            </a:endParaRPr>
          </a:p>
          <a:p>
            <a:pPr>
              <a:lnSpc>
                <a:spcPct val="100000"/>
              </a:lnSpc>
              <a:spcBef>
                <a:spcPts val="400"/>
              </a:spcBef>
            </a:pPr>
            <a:endParaRPr lang="en-US" sz="1900" b="0" strike="noStrike" spc="-1" dirty="0">
              <a:solidFill>
                <a:srgbClr val="000000"/>
              </a:solidFill>
              <a:latin typeface="Calibri" panose="020F0502020204030204"/>
            </a:endParaRPr>
          </a:p>
          <a:p>
            <a:pPr>
              <a:lnSpc>
                <a:spcPct val="100000"/>
              </a:lnSpc>
              <a:spcBef>
                <a:spcPts val="400"/>
              </a:spcBef>
            </a:pPr>
            <a:endParaRPr lang="en-US" sz="1900" b="0" strike="noStrike" spc="-1" dirty="0">
              <a:solidFill>
                <a:srgbClr val="000000"/>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altLang="en-GB" sz="3200" dirty="0">
                <a:latin typeface="Times New Roman" panose="02020603050405020304" pitchFamily="18" charset="0"/>
                <a:cs typeface="Times New Roman" panose="02020603050405020304" pitchFamily="18" charset="0"/>
              </a:rPr>
              <a:t>Introduction</a:t>
            </a:r>
            <a:endParaRPr lang="en-US" altLang="en-GB" sz="32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b="0" strike="noStrike" spc="-1" dirty="0">
              <a:solidFill>
                <a:srgbClr val="000000"/>
              </a:solidFill>
              <a:latin typeface="Calibri" panose="020F0502020204030204"/>
            </a:endParaRPr>
          </a:p>
          <a:p>
            <a:pPr marL="139700" lvl="0" indent="0">
              <a:buClr>
                <a:srgbClr val="000000"/>
              </a:buClr>
              <a:buSzPts val="1400"/>
              <a:buNone/>
            </a:pPr>
            <a:r>
              <a:rPr lang="en-US" alt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global energy sector is undergoing a major transformation due to the rapidly increasing demand for electricity and the growing environmental concerns caused by fossil fuels such as coal, oil, and natural gas. Traditional energy resources have played a significant role in industrial and economic development, but their continuous use has contributed heavily to climate change, air pollution, and depletion of natural resources. As a result, renewable energy sources have become an essential solution for achieving sustainable and environmentally friendly power generation. Technologies such as solar, wind, hydropower, biomass, and geothermal energy are gaining worldwide attention because of their lower environmental impact and long-term sustainability. In recent years, advancements in technology and reductions in production costs have made renewable energy more affordable and efficient than ever before. However, integrating these renewable sources into existing power systems presents several challenges, including intermittency, storage limitations, and grid stability issues. This research paper provides a comprehensive review of major renewable energy sources, their advantages and limitations, their role in future power systems, and the emerging technologies such as smart grids, energy storage systems, artificial intelligence, and IoT that can support a reliable and sustainable energy future.</a:t>
            </a:r>
            <a:endParaRPr lang="en-US" alt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buClr>
                <a:srgbClr val="000000"/>
              </a:buClr>
              <a:buSzPts val="1400"/>
              <a:buChar char="●"/>
            </a:pP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Calibri" panose="020F0502020204030204"/>
            </a:endParaRPr>
          </a:p>
          <a:p>
            <a:pPr>
              <a:lnSpc>
                <a:spcPct val="100000"/>
              </a:lnSpc>
              <a:spcBef>
                <a:spcPts val="400"/>
              </a:spcBef>
            </a:pPr>
            <a:endParaRPr lang="en-US" spc="-1" dirty="0">
              <a:solidFill>
                <a:srgbClr val="000000"/>
              </a:solidFill>
              <a:latin typeface="Calibri" panose="020F0502020204030204"/>
            </a:endParaRPr>
          </a:p>
          <a:p>
            <a:pPr>
              <a:lnSpc>
                <a:spcPct val="150000"/>
              </a:lnSpc>
              <a:spcBef>
                <a:spcPts val="400"/>
              </a:spcBef>
            </a:pPr>
            <a:endParaRPr lang="en-US" b="0" strike="noStrike" spc="-1" dirty="0">
              <a:solidFill>
                <a:srgbClr val="000000"/>
              </a:solidFill>
              <a:latin typeface="Calibri" panose="020F0502020204030204"/>
            </a:endParaRPr>
          </a:p>
          <a:p>
            <a:pPr>
              <a:lnSpc>
                <a:spcPct val="150000"/>
              </a:lnSpc>
              <a:spcBef>
                <a:spcPts val="400"/>
              </a:spcBef>
            </a:pPr>
            <a:endParaRPr lang="en-US" b="0" strike="noStrike" spc="-1" dirty="0">
              <a:solidFill>
                <a:srgbClr val="000000"/>
              </a:solidFill>
              <a:latin typeface="Calibri" panose="020F0502020204030204"/>
            </a:endParaRPr>
          </a:p>
          <a:p>
            <a:pPr>
              <a:lnSpc>
                <a:spcPct val="150000"/>
              </a:lnSpc>
              <a:spcBef>
                <a:spcPts val="400"/>
              </a:spcBef>
            </a:pPr>
            <a:endParaRPr lang="en-US" b="0" strike="noStrike" spc="-1" dirty="0">
              <a:solidFill>
                <a:srgbClr val="000000"/>
              </a:solidFill>
              <a:latin typeface="Calibri" panose="020F0502020204030204"/>
            </a:endParaRPr>
          </a:p>
          <a:p>
            <a:pPr>
              <a:lnSpc>
                <a:spcPct val="150000"/>
              </a:lnSpc>
              <a:spcBef>
                <a:spcPts val="400"/>
              </a:spcBef>
            </a:pPr>
            <a:endParaRPr lang="en-US" b="0" strike="noStrike" spc="-1" dirty="0">
              <a:solidFill>
                <a:srgbClr val="000000"/>
              </a:solidFill>
              <a:latin typeface="Calibri" panose="020F0502020204030204"/>
            </a:endParaRPr>
          </a:p>
          <a:p>
            <a:pPr>
              <a:lnSpc>
                <a:spcPct val="100000"/>
              </a:lnSpc>
              <a:spcBef>
                <a:spcPts val="400"/>
              </a:spcBef>
            </a:pPr>
            <a:endParaRPr lang="en-US" b="0" strike="noStrike" spc="-1" dirty="0">
              <a:solidFill>
                <a:srgbClr val="000000"/>
              </a:solidFill>
              <a:latin typeface="Calibri" panose="020F0502020204030204"/>
            </a:endParaRPr>
          </a:p>
          <a:p>
            <a:pPr>
              <a:lnSpc>
                <a:spcPct val="100000"/>
              </a:lnSpc>
              <a:spcBef>
                <a:spcPts val="400"/>
              </a:spcBef>
            </a:pPr>
            <a:endParaRPr lang="en-US" b="0" strike="noStrike" spc="-1" dirty="0">
              <a:solidFill>
                <a:srgbClr val="000000"/>
              </a:solidFill>
              <a:latin typeface="Calibri" panose="020F0502020204030204"/>
            </a:endParaRPr>
          </a:p>
          <a:p>
            <a:pPr>
              <a:lnSpc>
                <a:spcPct val="100000"/>
              </a:lnSpc>
              <a:spcBef>
                <a:spcPts val="400"/>
              </a:spcBef>
            </a:pPr>
            <a:endParaRPr lang="en-US" b="0" strike="noStrike" spc="-1" dirty="0">
              <a:solidFill>
                <a:srgbClr val="000000"/>
              </a:solidFill>
              <a:latin typeface="Calibri" panose="020F0502020204030204"/>
            </a:endParaRPr>
          </a:p>
          <a:p>
            <a:pPr>
              <a:lnSpc>
                <a:spcPct val="100000"/>
              </a:lnSpc>
              <a:spcBef>
                <a:spcPts val="400"/>
              </a:spcBef>
            </a:pPr>
            <a:endParaRPr lang="en-US" b="0" strike="noStrike" spc="-1" dirty="0">
              <a:solidFill>
                <a:srgbClr val="000000"/>
              </a:solidFill>
              <a:latin typeface="Calibri" panose="020F0502020204030204"/>
            </a:endParaRPr>
          </a:p>
          <a:p>
            <a:pPr>
              <a:lnSpc>
                <a:spcPct val="100000"/>
              </a:lnSpc>
              <a:spcBef>
                <a:spcPts val="400"/>
              </a:spcBef>
            </a:pPr>
            <a:endParaRPr lang="en-US" b="0" strike="noStrike" spc="-1" dirty="0">
              <a:solidFill>
                <a:srgbClr val="000000"/>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altLang="en-US" sz="32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mn-ea"/>
              </a:rPr>
              <a:t>Problem Statement</a:t>
            </a:r>
            <a:endParaRPr lang="en-US" altLang="en-GB" sz="32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00000"/>
              </a:lnSpc>
              <a:spcBef>
                <a:spcPts val="400"/>
              </a:spcBef>
            </a:pPr>
            <a:r>
              <a:rPr lang="en-US" altLang="en-US" b="0" strike="noStrike" spc="-1" dirty="0">
                <a:solidFill>
                  <a:srgbClr val="000000"/>
                </a:solidFill>
                <a:latin typeface="Times New Roman" panose="02020603050405020304" pitchFamily="18" charset="0"/>
                <a:cs typeface="Times New Roman" panose="02020603050405020304" pitchFamily="18" charset="0"/>
              </a:rPr>
              <a:t>The increasing global demand for energy, combined with the harmful environmental effects of fossil fuel consumption, has created a serious challenge for modern power systems. Conventional energy sources such as coal, oil, and natural gas are major contributors to greenhouse gas emissions, air pollution, and climate change, while also being limited and nonrenewable in nature. Although renewable energy sources like solar, wind, hydropower, biomass, and geothermal energy offer cleaner and more sustainable alternatives, their large-scale integration into existing power systems remains difficult. Issues such as intermittent power generation, limited energy storage capacity, grid instability, high initial investment costs, and inadequate infrastructure continue to hinder the transition toward fully renewable energy systems. Therefore, there is a need to analyze different renewable energy technologies, understand their challenges, and identify advanced solutions such as smart grids, hybrid systems, energy storage technologies, and AI-based energy management to develop a reliable, efficient, and sustainable future power system.</a:t>
            </a:r>
            <a:endParaRPr lang="en-US" altLang="en-US"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altLang="en-US" sz="3200" b="0" strike="noStrike" spc="-1" dirty="0">
                <a:solidFill>
                  <a:srgbClr val="000000"/>
                </a:solidFill>
                <a:latin typeface="Times New Roman" panose="02020603050405020304" pitchFamily="18" charset="0"/>
                <a:cs typeface="Times New Roman" panose="02020603050405020304" pitchFamily="18" charset="0"/>
              </a:rPr>
              <a:t>Objectives of the Research</a:t>
            </a:r>
            <a:endParaRPr lang="en-US" altLang="en-US" sz="32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00000"/>
              </a:lnSpc>
              <a:spcBef>
                <a:spcPts val="400"/>
              </a:spcBef>
            </a:pPr>
            <a:r>
              <a:rPr lang="en-US" altLang="en-US" b="0" strike="noStrike" spc="-1" dirty="0">
                <a:solidFill>
                  <a:srgbClr val="000000"/>
                </a:solidFill>
                <a:latin typeface="Times New Roman" panose="02020603050405020304" pitchFamily="18" charset="0"/>
                <a:cs typeface="Times New Roman" panose="02020603050405020304" pitchFamily="18" charset="0"/>
              </a:rPr>
              <a:t>The main objective of this research is to study and analyze the role of renewable energy sources in building sustainable and reliable future power systems. The research aims to evaluate major renewable energy technologies such as solar, wind, hydropower, biomass, and geothermal energy based on factors including efficiency, cost, environmental impact, scalability, and reliability. Another objective is to identify the major challenges involved in integrating renewable energy into existing power grids, such as intermittency, storage limitations, and infrastructure issues. The study also focuses on exploring emerging technologies like smart grids, energy storage systems, hybrid energy systems, artificial intelligence, and IoT-based energy management that can improve the performance and stability of renewable power systems. Ultimately, the research seeks to provide a comprehensive understanding of how renewable energy can contribute to a cleaner, smarter, and more sustainable energy future.</a:t>
            </a:r>
            <a:endParaRPr lang="en-US" altLang="en-US"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altLang="en-US" sz="2800" b="0" strike="noStrike" spc="-1" dirty="0">
                <a:solidFill>
                  <a:srgbClr val="000000"/>
                </a:solidFill>
                <a:latin typeface="Times New Roman" panose="02020603050405020304" pitchFamily="18" charset="0"/>
                <a:cs typeface="Times New Roman" panose="02020603050405020304" pitchFamily="18" charset="0"/>
              </a:rPr>
              <a:t>Renewable Energy Sources Overview</a:t>
            </a:r>
            <a:endParaRPr lang="en-US" altLang="en-US" sz="28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00000"/>
              </a:lnSpc>
              <a:spcBef>
                <a:spcPts val="400"/>
              </a:spcBef>
            </a:pPr>
            <a:r>
              <a:rPr lang="en-US" altLang="en-US" b="0" strike="noStrike" spc="-1" dirty="0">
                <a:solidFill>
                  <a:srgbClr val="000000"/>
                </a:solidFill>
                <a:latin typeface="Times New Roman" panose="02020603050405020304" pitchFamily="18" charset="0"/>
                <a:cs typeface="Times New Roman" panose="02020603050405020304" pitchFamily="18" charset="0"/>
              </a:rPr>
              <a:t>Renewable energy sources are naturally replenished forms of energy that provide cleaner and more sustainable alternatives to conventional fossil fuels. These energy sources play a crucial role in reducing greenhouse gas emissions, minimizing environmental pollution, and ensuring long-term energy security. The five major renewable energy sources discussed in this research are solar energy, wind energy, hydropower, biomass energy, and geothermal energy. Solar energy utilizes sunlight to generate electricity through photovoltaic cells and thermal systems, while wind energy converts the kinetic energy of moving air into electrical power using wind turbines. Hydropower generates electricity from flowing or falling water and is one of the oldest and most reliable renewable energy technologies. Biomass energy uses organic materials such as agricultural waste, wood, and crops for power generation, contributing to waste management and energy production simultaneously. Geothermal energy harnesses heat from the Earth’s interior to produce continuous and stable electricity. Each renewable source has unique advantages and limitations, and together they form the foundation for future sustainable power systems.</a:t>
            </a:r>
            <a:endParaRPr lang="en-US" altLang="en-US"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altLang="en-US" sz="3200" b="0" strike="noStrike" spc="-1" dirty="0">
                <a:solidFill>
                  <a:srgbClr val="000000"/>
                </a:solidFill>
                <a:latin typeface="Times New Roman" panose="02020603050405020304" pitchFamily="18" charset="0"/>
                <a:cs typeface="Times New Roman" panose="02020603050405020304" pitchFamily="18" charset="0"/>
              </a:rPr>
              <a:t>Solar Energy</a:t>
            </a:r>
            <a:endParaRPr lang="en-US" altLang="en-US" sz="32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00000"/>
              </a:lnSpc>
              <a:spcBef>
                <a:spcPts val="400"/>
              </a:spcBef>
            </a:pPr>
            <a:r>
              <a:rPr lang="en-US" altLang="en-US" b="0" strike="noStrike" spc="-1" dirty="0">
                <a:solidFill>
                  <a:srgbClr val="000000"/>
                </a:solidFill>
                <a:latin typeface="Times New Roman" panose="02020603050405020304" pitchFamily="18" charset="0"/>
                <a:cs typeface="Times New Roman" panose="02020603050405020304" pitchFamily="18" charset="0"/>
              </a:rPr>
              <a:t>Solar energy is one of the most widely used and rapidly growing renewable energy sources in the world. It utilizes sunlight to generate electricity through photovoltaic (PV) cells or thermal systems. One of the major advantages of solar energy is its abundance and availability, as sunlight is freely accessible in most regions. Solar power systems are highly flexible and can be installed on rooftops for residential use or developed as large-scale solar farms for industrial power generation. In addition, solar energy produces no direct greenhouse gas emissions during operation, making it an environmentally friendly energy source. Technological advancements and decreasing installation costs have further increased its popularity and adoption. However, solar energy also faces certain limitations, such as dependence on weather conditions and sunlight availability. Energy production decreases during cloudy weather and completely stops at night, creating the need for efficient energy storage or backup systems.</a:t>
            </a:r>
            <a:endParaRPr lang="en-US" altLang="en-US"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altLang="en-US" sz="3200" b="0" strike="noStrike" spc="-1" dirty="0">
                <a:solidFill>
                  <a:srgbClr val="000000"/>
                </a:solidFill>
                <a:latin typeface="Times New Roman" panose="02020603050405020304" pitchFamily="18" charset="0"/>
                <a:cs typeface="Times New Roman" panose="02020603050405020304" pitchFamily="18" charset="0"/>
              </a:rPr>
              <a:t>Wind Energy</a:t>
            </a:r>
            <a:endParaRPr lang="en-US" altLang="en-US" sz="32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00000"/>
              </a:lnSpc>
              <a:spcBef>
                <a:spcPts val="400"/>
              </a:spcBef>
            </a:pPr>
            <a:r>
              <a:rPr lang="en-US" altLang="en-US" b="0" strike="noStrike" spc="-1" dirty="0">
                <a:solidFill>
                  <a:srgbClr val="000000"/>
                </a:solidFill>
                <a:latin typeface="Times New Roman" panose="02020603050405020304" pitchFamily="18" charset="0"/>
                <a:cs typeface="Times New Roman" panose="02020603050405020304" pitchFamily="18" charset="0"/>
              </a:rPr>
              <a:t>Wind energy is generated by converting the kinetic energy of moving air into electricity using wind turbines. Over the past few decades, wind power has become one of the leading renewable energy technologies worldwide due to its cost-effectiveness and clean energy production. Wind farms can be developed both onshore and offshore, and modern turbines have become more efficient and capable of producing large amounts of electricity. One of the key benefits of wind energy is that, after installation, operational and maintenance costs are relatively low. It also helps reduce greenhouse gas emissions and dependence on fossil fuels. However, wind energy is highly dependent on geographic and climatic conditions, as strong and consistent winds are required for efficient power generation. In some areas, wind turbines may also create noise pollution and face public opposition due to their visual impact on the environment.</a:t>
            </a:r>
            <a:endParaRPr lang="en-US" altLang="en-US"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altLang="en-US" sz="3200" b="0" strike="noStrike" spc="-1" dirty="0">
                <a:solidFill>
                  <a:srgbClr val="000000"/>
                </a:solidFill>
                <a:latin typeface="Times New Roman" panose="02020603050405020304" pitchFamily="18" charset="0"/>
                <a:cs typeface="Times New Roman" panose="02020603050405020304" pitchFamily="18" charset="0"/>
              </a:rPr>
              <a:t>Hydropower</a:t>
            </a:r>
            <a:endParaRPr lang="en-US" altLang="en-US" sz="32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00000"/>
              </a:lnSpc>
              <a:spcBef>
                <a:spcPts val="400"/>
              </a:spcBef>
            </a:pPr>
            <a:r>
              <a:rPr lang="en-US" altLang="en-US" b="0" strike="noStrike" spc="-1" dirty="0">
                <a:solidFill>
                  <a:srgbClr val="000000"/>
                </a:solidFill>
                <a:latin typeface="Times New Roman" panose="02020603050405020304" pitchFamily="18" charset="0"/>
                <a:cs typeface="Times New Roman" panose="02020603050405020304" pitchFamily="18" charset="0"/>
              </a:rPr>
              <a:t>Hydropower is one of the oldest and most established renewable energy sources and currently contributes a major share of renewable electricity generation globally. It works by converting the energy of flowing or falling water into electrical power through turbines and generators. Hydropower systems are highly efficient and capable of providing a stable and continuous power supply, making them reliable for large-scale electricity generation. Another important advantage of hydropower is its ability to function as an energy storage system through pumped storage technology, where water is stored and released during peak electricity demand. Despite its advantages, hydropower also has several environmental and economic challenges. The construction of dams and reservoirs can disturb ecosystems, alter river flows, and sometimes require the relocation of nearby communities. Additionally, building hydropower infrastructure requires significant initial investment and long construction periods.</a:t>
            </a:r>
            <a:endParaRPr lang="en-US" altLang="en-US"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altLang="en-US" sz="3200" b="0" strike="noStrike" spc="-1" dirty="0">
                <a:solidFill>
                  <a:srgbClr val="000000"/>
                </a:solidFill>
                <a:latin typeface="Times New Roman" panose="02020603050405020304" pitchFamily="18" charset="0"/>
                <a:cs typeface="Times New Roman" panose="02020603050405020304" pitchFamily="18" charset="0"/>
              </a:rPr>
              <a:t>Biomass &amp; Geothermal Energy</a:t>
            </a:r>
            <a:endParaRPr lang="en-US" altLang="en-US" sz="32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00000"/>
              </a:lnSpc>
              <a:spcBef>
                <a:spcPts val="400"/>
              </a:spcBef>
            </a:pPr>
            <a:r>
              <a:rPr lang="en-US" altLang="en-US" b="0" strike="noStrike" spc="-1" dirty="0">
                <a:solidFill>
                  <a:srgbClr val="000000"/>
                </a:solidFill>
                <a:latin typeface="Times New Roman" panose="02020603050405020304" pitchFamily="18" charset="0"/>
                <a:cs typeface="Times New Roman" panose="02020603050405020304" pitchFamily="18" charset="0"/>
              </a:rPr>
              <a:t>Biomass energy is produced using organic materials such as agricultural waste, wood, crops, and other biological matter. It is considered a renewable energy source because these materials can be replenished naturally. Biomass energy helps in reducing waste while simultaneously generating electricity and heat. Unlike solar and wind energy, biomass energy is not dependent on weather conditions, making it a more stable and reliable energy source. However, the burning of biomass releases greenhouse gases, and large-scale biomass production may require significant land resources that could otherwise be used for agriculture.</a:t>
            </a:r>
            <a:endParaRPr lang="en-US" alt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alt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r>
              <a:rPr lang="en-US" altLang="en-US" b="0" strike="noStrike" spc="-1" dirty="0">
                <a:solidFill>
                  <a:srgbClr val="000000"/>
                </a:solidFill>
                <a:latin typeface="Times New Roman" panose="02020603050405020304" pitchFamily="18" charset="0"/>
                <a:cs typeface="Times New Roman" panose="02020603050405020304" pitchFamily="18" charset="0"/>
              </a:rPr>
              <a:t>Geothermal energy utilizes heat from beneath the Earth’s surface to generate electricity and provide heating solutions. It is one of the most reliable renewable energy sources because it can operate continuously regardless of weather conditions. Geothermal power plants have low environmental impact, require less land area, and provide a stable baseload power supply. However, geothermal energy is geographically limited to regions with suitable geological activity, and the drilling and installation processes are expensive and technically challenging.</a:t>
            </a:r>
            <a:endParaRPr lang="en-US" altLang="en-US"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altLang="en-US" sz="3200" b="0" strike="noStrike" spc="-1" dirty="0">
                <a:solidFill>
                  <a:srgbClr val="000000"/>
                </a:solidFill>
                <a:latin typeface="Times New Roman" panose="02020603050405020304" pitchFamily="18" charset="0"/>
                <a:cs typeface="Times New Roman" panose="02020603050405020304" pitchFamily="18" charset="0"/>
              </a:rPr>
              <a:t>Energy Storage Systems</a:t>
            </a:r>
            <a:endParaRPr lang="en-US" altLang="en-US" sz="32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00000"/>
              </a:lnSpc>
              <a:spcBef>
                <a:spcPts val="400"/>
              </a:spcBef>
            </a:pPr>
            <a:r>
              <a:rPr lang="en-US" altLang="en-US" b="0" strike="noStrike" spc="-1" dirty="0">
                <a:solidFill>
                  <a:srgbClr val="000000"/>
                </a:solidFill>
                <a:latin typeface="Times New Roman" panose="02020603050405020304" pitchFamily="18" charset="0"/>
                <a:cs typeface="Times New Roman" panose="02020603050405020304" pitchFamily="18" charset="0"/>
              </a:rPr>
              <a:t>Energy storage systems play a critical role in the successful integration of renewable energy into modern power systems. Since renewable sources such as solar and wind energy are intermittent and weather-dependent, energy storage technologies help balance electricity supply and demand by storing excess energy and supplying it when generation is low. Lithium-ion batteries are currently the most widely used storage technology due to their high efficiency, fast response time, and decreasing costs. In addition to batteries, advanced storage solutions such as solid-state batteries, hydrogen storage systems, and compressed air energy storage are being developed to support long-duration energy needs. Effective energy storage improves grid stability, enhances reliability, reduces energy wastage, and enables the continuous use of renewable energy, making it an essential component of future sustainable power systems.</a:t>
            </a:r>
            <a:endParaRPr lang="en-US" altLang="en-US"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altLang="en-US" sz="3200" b="0" strike="noStrike" spc="-1" dirty="0">
                <a:solidFill>
                  <a:srgbClr val="000000"/>
                </a:solidFill>
                <a:latin typeface="Times New Roman" panose="02020603050405020304" pitchFamily="18" charset="0"/>
                <a:cs typeface="Times New Roman" panose="02020603050405020304" pitchFamily="18" charset="0"/>
              </a:rPr>
              <a:t>Artificial Intelligence in Energy</a:t>
            </a:r>
            <a:endParaRPr lang="en-US" altLang="en-US" sz="32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00000"/>
              </a:lnSpc>
              <a:spcBef>
                <a:spcPts val="400"/>
              </a:spcBef>
            </a:pPr>
            <a:r>
              <a:rPr lang="en-US" altLang="en-US" b="0" strike="noStrike" spc="-1" dirty="0">
                <a:solidFill>
                  <a:srgbClr val="000000"/>
                </a:solidFill>
                <a:latin typeface="Times New Roman" panose="02020603050405020304" pitchFamily="18" charset="0"/>
                <a:cs typeface="Times New Roman" panose="02020603050405020304" pitchFamily="18" charset="0"/>
              </a:rPr>
              <a:t>Artificial Intelligence (AI) is becoming increasingly important in modern energy management and renewable power systems. AI technologies use advanced algorithms and data analysis techniques to optimize energy production, distribution, and consumption. In renewable energy systems, AI can predict electricity demand, forecast solar and wind energy generation, and improve decision-making for grid operations. AI-based systems help reduce operational costs, improve efficiency, and minimize energy losses by analyzing real-time data from smart grids and IoT devices. In addition, AI supports predictive maintenance of renewable energy infrastructure, helping identify faults before system failures occur. As renewable energy adoption continues to grow, AI will play a significant role in creating smarter, more reliable, and highly efficient power systems.</a:t>
            </a:r>
            <a:endParaRPr lang="en-US" altLang="en-US"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altLang="en-US" sz="3200" b="0" strike="noStrike" spc="-1" dirty="0">
                <a:solidFill>
                  <a:srgbClr val="000000"/>
                </a:solidFill>
                <a:latin typeface="Times New Roman" panose="02020603050405020304" pitchFamily="18" charset="0"/>
                <a:cs typeface="Times New Roman" panose="02020603050405020304" pitchFamily="18" charset="0"/>
              </a:rPr>
              <a:t>Future Scope</a:t>
            </a:r>
            <a:endParaRPr lang="en-US" altLang="en-US" sz="32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00000"/>
              </a:lnSpc>
              <a:spcBef>
                <a:spcPts val="400"/>
              </a:spcBef>
            </a:pPr>
            <a:r>
              <a:rPr lang="en-US" altLang="en-US" b="0" strike="noStrike" spc="-1" dirty="0">
                <a:solidFill>
                  <a:srgbClr val="000000"/>
                </a:solidFill>
                <a:latin typeface="Times New Roman" panose="02020603050405020304" pitchFamily="18" charset="0"/>
                <a:cs typeface="Times New Roman" panose="02020603050405020304" pitchFamily="18" charset="0"/>
              </a:rPr>
              <a:t>The future of renewable energy systems is highly promising due to continuous technological advancements and increasing global focus on sustainability. Future research and development will focus on improving the efficiency, affordability, and scalability of renewable energy technologies. Advanced battery systems, hydrogen-based energy storage, and smart grid technologies are expected to enhance the reliability of renewable power systems. The integration of Artificial Intelligence, IoT, and data analytics will further optimize energy management and grid operations. Hybrid renewable energy systems combining solar, wind, hydropower, and storage technologies are also expected to become more common for ensuring stable electricity generation. In addition, stronger government policies, international climate agreements, and investments in clean energy infrastructure will accelerate the global transition toward a low-carbon and sustainable energy future</a:t>
            </a:r>
            <a:endParaRPr lang="en-US" altLang="en-US"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altLang="en-US" sz="3200" b="0" strike="noStrike" spc="-1" dirty="0">
                <a:solidFill>
                  <a:srgbClr val="000000"/>
                </a:solidFill>
                <a:latin typeface="Times New Roman" panose="02020603050405020304" pitchFamily="18" charset="0"/>
                <a:cs typeface="Times New Roman" panose="02020603050405020304" pitchFamily="18" charset="0"/>
              </a:rPr>
              <a:t>Conclusion</a:t>
            </a:r>
            <a:endParaRPr lang="en-US" altLang="en-US" sz="32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00000"/>
              </a:lnSpc>
              <a:spcBef>
                <a:spcPts val="400"/>
              </a:spcBef>
            </a:pPr>
            <a:r>
              <a:rPr lang="en-US" altLang="en-US" b="0" strike="noStrike" spc="-1" dirty="0">
                <a:solidFill>
                  <a:srgbClr val="000000"/>
                </a:solidFill>
                <a:latin typeface="Times New Roman" panose="02020603050405020304" pitchFamily="18" charset="0"/>
                <a:cs typeface="Times New Roman" panose="02020603050405020304" pitchFamily="18" charset="0"/>
              </a:rPr>
              <a:t>Renewable energy has become one of the most important solutions for addressing the growing global energy demand and environmental challenges caused by fossil fuels. This research highlights the importance of major renewable energy sources such as solar, wind, hydropower, biomass, and geothermal energy in building sustainable future power systems. Each renewable source offers unique advantages, but each also faces limitations related to intermittency, storage, infrastructure, and cost. Therefore, no single energy source alone can completely satisfy future energy demands. The study emphasizes that a combination of renewable technologies supported by smart grids, advanced energy storage systems, hybrid energy systems, and AI-based management solutions is essential for achieving reliable and efficient power generation. With continuous technological innovation, policy support, and global cooperation, renewable energy systems can play a major role in creating a cleaner, smarter, and more sustainable future for the world.</a:t>
            </a:r>
            <a:endParaRPr lang="en-US" altLang="en-US"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altLang="en-US" sz="3200" b="0" strike="noStrike" spc="-1" dirty="0">
                <a:solidFill>
                  <a:srgbClr val="000000"/>
                </a:solidFill>
                <a:latin typeface="Times New Roman" panose="02020603050405020304" pitchFamily="18" charset="0"/>
                <a:cs typeface="Times New Roman" panose="02020603050405020304" pitchFamily="18" charset="0"/>
              </a:rPr>
              <a:t>References</a:t>
            </a:r>
            <a:endParaRPr lang="en-US" altLang="en-US" sz="32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285750" indent="-285750">
              <a:lnSpc>
                <a:spcPct val="100000"/>
              </a:lnSpc>
              <a:spcBef>
                <a:spcPts val="400"/>
              </a:spcBef>
              <a:buFont typeface="Arial" panose="020B0604020202020204" pitchFamily="34" charset="0"/>
              <a:buChar char="•"/>
            </a:pPr>
            <a:r>
              <a:rPr lang="en-US" altLang="en-US" b="0" strike="noStrike" spc="-1" dirty="0">
                <a:solidFill>
                  <a:srgbClr val="000000"/>
                </a:solidFill>
                <a:latin typeface="Times New Roman" panose="02020603050405020304" pitchFamily="18" charset="0"/>
                <a:cs typeface="Times New Roman" panose="02020603050405020304" pitchFamily="18" charset="0"/>
              </a:rPr>
              <a:t>International Energy Agency (IEA), World Energy Outlook 2023, IEA Publications, 2023.</a:t>
            </a:r>
            <a:endParaRPr lang="en-US" altLang="en-US" b="0" strike="noStrike" spc="-1" dirty="0">
              <a:solidFill>
                <a:srgbClr val="000000"/>
              </a:solidFill>
              <a:latin typeface="Times New Roman" panose="02020603050405020304" pitchFamily="18" charset="0"/>
              <a:cs typeface="Times New Roman" panose="02020603050405020304" pitchFamily="18" charset="0"/>
            </a:endParaRPr>
          </a:p>
          <a:p>
            <a:pPr marL="285750" indent="-285750">
              <a:lnSpc>
                <a:spcPct val="100000"/>
              </a:lnSpc>
              <a:spcBef>
                <a:spcPts val="400"/>
              </a:spcBef>
              <a:buFont typeface="Arial" panose="020B0604020202020204" pitchFamily="34" charset="0"/>
              <a:buChar char="•"/>
            </a:pPr>
            <a:r>
              <a:rPr lang="en-US" altLang="en-US" b="0" strike="noStrike" spc="-1" dirty="0">
                <a:solidFill>
                  <a:srgbClr val="000000"/>
                </a:solidFill>
                <a:latin typeface="Times New Roman" panose="02020603050405020304" pitchFamily="18" charset="0"/>
                <a:cs typeface="Times New Roman" panose="02020603050405020304" pitchFamily="18" charset="0"/>
              </a:rPr>
              <a:t>REN21, Renewables 2024 Global Status Report, Renewable Energy Policy Network for the 21st Century, 2024.</a:t>
            </a:r>
            <a:endParaRPr lang="en-US" altLang="en-US" b="0" strike="noStrike" spc="-1" dirty="0">
              <a:solidFill>
                <a:srgbClr val="000000"/>
              </a:solidFill>
              <a:latin typeface="Times New Roman" panose="02020603050405020304" pitchFamily="18" charset="0"/>
              <a:cs typeface="Times New Roman" panose="02020603050405020304" pitchFamily="18" charset="0"/>
            </a:endParaRPr>
          </a:p>
          <a:p>
            <a:pPr marL="285750" indent="-285750">
              <a:lnSpc>
                <a:spcPct val="100000"/>
              </a:lnSpc>
              <a:spcBef>
                <a:spcPts val="400"/>
              </a:spcBef>
              <a:buFont typeface="Arial" panose="020B0604020202020204" pitchFamily="34" charset="0"/>
              <a:buChar char="•"/>
            </a:pPr>
            <a:r>
              <a:rPr lang="en-US" altLang="en-US" b="0" strike="noStrike" spc="-1" dirty="0">
                <a:solidFill>
                  <a:srgbClr val="000000"/>
                </a:solidFill>
                <a:latin typeface="Times New Roman" panose="02020603050405020304" pitchFamily="18" charset="0"/>
                <a:cs typeface="Times New Roman" panose="02020603050405020304" pitchFamily="18" charset="0"/>
              </a:rPr>
              <a:t>T. Ackermann, Wind Power in Power Systems, 2nd Edition, John Wiley &amp; Sons, 2012.</a:t>
            </a:r>
            <a:endParaRPr lang="en-US" altLang="en-US" b="0" strike="noStrike" spc="-1" dirty="0">
              <a:solidFill>
                <a:srgbClr val="000000"/>
              </a:solidFill>
              <a:latin typeface="Times New Roman" panose="02020603050405020304" pitchFamily="18" charset="0"/>
              <a:cs typeface="Times New Roman" panose="02020603050405020304" pitchFamily="18" charset="0"/>
            </a:endParaRPr>
          </a:p>
          <a:p>
            <a:pPr marL="285750" indent="-285750">
              <a:lnSpc>
                <a:spcPct val="100000"/>
              </a:lnSpc>
              <a:spcBef>
                <a:spcPts val="400"/>
              </a:spcBef>
              <a:buFont typeface="Arial" panose="020B0604020202020204" pitchFamily="34" charset="0"/>
              <a:buChar char="•"/>
            </a:pPr>
            <a:r>
              <a:rPr lang="en-US" altLang="en-US" b="0" strike="noStrike" spc="-1" dirty="0">
                <a:solidFill>
                  <a:srgbClr val="000000"/>
                </a:solidFill>
                <a:latin typeface="Times New Roman" panose="02020603050405020304" pitchFamily="18" charset="0"/>
                <a:cs typeface="Times New Roman" panose="02020603050405020304" pitchFamily="18" charset="0"/>
              </a:rPr>
              <a:t>J. A. Duffie and W. A. Beckman, Solar Engineering of Thermal Processes, 4th Edition, Wiley, 2013.</a:t>
            </a:r>
            <a:endParaRPr lang="en-US" altLang="en-US" b="0" strike="noStrike" spc="-1" dirty="0">
              <a:solidFill>
                <a:srgbClr val="000000"/>
              </a:solidFill>
              <a:latin typeface="Times New Roman" panose="02020603050405020304" pitchFamily="18" charset="0"/>
              <a:cs typeface="Times New Roman" panose="02020603050405020304" pitchFamily="18" charset="0"/>
            </a:endParaRPr>
          </a:p>
          <a:p>
            <a:pPr marL="285750" indent="-285750">
              <a:lnSpc>
                <a:spcPct val="100000"/>
              </a:lnSpc>
              <a:spcBef>
                <a:spcPts val="400"/>
              </a:spcBef>
              <a:buFont typeface="Arial" panose="020B0604020202020204" pitchFamily="34" charset="0"/>
              <a:buChar char="•"/>
            </a:pPr>
            <a:r>
              <a:rPr lang="en-US" altLang="en-US" b="0" strike="noStrike" spc="-1" dirty="0">
                <a:solidFill>
                  <a:srgbClr val="000000"/>
                </a:solidFill>
                <a:latin typeface="Times New Roman" panose="02020603050405020304" pitchFamily="18" charset="0"/>
                <a:cs typeface="Times New Roman" panose="02020603050405020304" pitchFamily="18" charset="0"/>
              </a:rPr>
              <a:t>B. K. Sovacool, The Dirty Energy Dilemma: What’s Blocking Clean Power in the United States, Praeger, 2008.</a:t>
            </a:r>
            <a:endParaRPr lang="en-US" altLang="en-US" b="0" strike="noStrike" spc="-1" dirty="0">
              <a:solidFill>
                <a:srgbClr val="000000"/>
              </a:solidFill>
              <a:latin typeface="Times New Roman" panose="02020603050405020304" pitchFamily="18" charset="0"/>
              <a:cs typeface="Times New Roman" panose="02020603050405020304" pitchFamily="18" charset="0"/>
            </a:endParaRPr>
          </a:p>
          <a:p>
            <a:pPr marL="285750" indent="-285750">
              <a:lnSpc>
                <a:spcPct val="100000"/>
              </a:lnSpc>
              <a:spcBef>
                <a:spcPts val="400"/>
              </a:spcBef>
              <a:buFont typeface="Arial" panose="020B0604020202020204" pitchFamily="34" charset="0"/>
              <a:buChar char="•"/>
            </a:pPr>
            <a:r>
              <a:rPr lang="en-US" altLang="en-US" b="0" strike="noStrike" spc="-1" dirty="0">
                <a:solidFill>
                  <a:srgbClr val="000000"/>
                </a:solidFill>
                <a:latin typeface="Times New Roman" panose="02020603050405020304" pitchFamily="18" charset="0"/>
                <a:cs typeface="Times New Roman" panose="02020603050405020304" pitchFamily="18" charset="0"/>
              </a:rPr>
              <a:t>M. Z. Jacobson and M. A. Delucchi, “Providing All Global Energy with Wind, Water, and Solar Power,” Energy Policy, Vol. 39, No. 3, pp. 1154–1169, 2011.</a:t>
            </a:r>
            <a:endParaRPr lang="en-US" altLang="en-US" b="0" strike="noStrike" spc="-1" dirty="0">
              <a:solidFill>
                <a:srgbClr val="000000"/>
              </a:solidFill>
              <a:latin typeface="Times New Roman" panose="02020603050405020304" pitchFamily="18" charset="0"/>
              <a:cs typeface="Times New Roman" panose="02020603050405020304" pitchFamily="18" charset="0"/>
            </a:endParaRPr>
          </a:p>
          <a:p>
            <a:pPr marL="285750" indent="-285750">
              <a:lnSpc>
                <a:spcPct val="100000"/>
              </a:lnSpc>
              <a:spcBef>
                <a:spcPts val="400"/>
              </a:spcBef>
              <a:buFont typeface="Arial" panose="020B0604020202020204" pitchFamily="34" charset="0"/>
              <a:buChar char="•"/>
            </a:pPr>
            <a:r>
              <a:rPr lang="en-US" altLang="en-US" b="0" strike="noStrike" spc="-1" dirty="0">
                <a:solidFill>
                  <a:srgbClr val="000000"/>
                </a:solidFill>
                <a:latin typeface="Times New Roman" panose="02020603050405020304" pitchFamily="18" charset="0"/>
                <a:cs typeface="Times New Roman" panose="02020603050405020304" pitchFamily="18" charset="0"/>
              </a:rPr>
              <a:t>N. S. Lewis, “Research Opportunities to Advance Solar Energy Utilization,” Science, Vol. 351, No. 6271, 2016.</a:t>
            </a:r>
            <a:endParaRPr lang="en-US" altLang="en-US" b="0" strike="noStrike" spc="-1" dirty="0">
              <a:solidFill>
                <a:srgbClr val="000000"/>
              </a:solidFill>
              <a:latin typeface="Times New Roman" panose="02020603050405020304" pitchFamily="18" charset="0"/>
              <a:cs typeface="Times New Roman" panose="02020603050405020304" pitchFamily="18" charset="0"/>
            </a:endParaRPr>
          </a:p>
          <a:p>
            <a:pPr marL="285750" indent="-285750">
              <a:lnSpc>
                <a:spcPct val="100000"/>
              </a:lnSpc>
              <a:spcBef>
                <a:spcPts val="400"/>
              </a:spcBef>
              <a:buFont typeface="Arial" panose="020B0604020202020204" pitchFamily="34" charset="0"/>
              <a:buChar char="•"/>
            </a:pPr>
            <a:r>
              <a:rPr lang="en-US" altLang="en-US" b="0" strike="noStrike" spc="-1" dirty="0">
                <a:solidFill>
                  <a:srgbClr val="000000"/>
                </a:solidFill>
                <a:latin typeface="Times New Roman" panose="02020603050405020304" pitchFamily="18" charset="0"/>
                <a:cs typeface="Times New Roman" panose="02020603050405020304" pitchFamily="18" charset="0"/>
              </a:rPr>
              <a:t>S. A. Kalogirou, Solar Energy Engineering: Processes and Systems, 2nd Edition, Academic Press, 2014.</a:t>
            </a:r>
            <a:endParaRPr lang="en-US" altLang="en-US"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GB"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datastoreItem>
</file>

<file path=customXml/itemProps2.xml><?xml version="1.0" encoding="utf-8"?>
<ds:datastoreItem xmlns:ds="http://schemas.openxmlformats.org/officeDocument/2006/customXml" ds:itemID="{737ED6F0-5E4C-4CD0-9B68-9C53F925A6F7}">
  <ds:schemaRefs/>
</ds:datastoreItem>
</file>

<file path=customXml/itemProps3.xml><?xml version="1.0" encoding="utf-8"?>
<ds:datastoreItem xmlns:ds="http://schemas.openxmlformats.org/officeDocument/2006/customXml" ds:itemID="{4A62A602-78C1-468C-BB25-57CD481DB741}">
  <ds:schemaRefs/>
</ds:datastoreItem>
</file>

<file path=docProps/app.xml><?xml version="1.0" encoding="utf-8"?>
<Properties xmlns="http://schemas.openxmlformats.org/officeDocument/2006/extended-properties" xmlns:vt="http://schemas.openxmlformats.org/officeDocument/2006/docPropsVTypes">
  <TotalTime>0</TotalTime>
  <Words>14315</Words>
  <Application>WPS Presentation</Application>
  <PresentationFormat>On-screen Show (4:3)</PresentationFormat>
  <Paragraphs>148</Paragraphs>
  <Slides>16</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16</vt:i4>
      </vt:variant>
    </vt:vector>
  </HeadingPairs>
  <TitlesOfParts>
    <vt:vector size="31" baseType="lpstr">
      <vt:lpstr>Arial</vt:lpstr>
      <vt:lpstr>SimSun</vt:lpstr>
      <vt:lpstr>Wingdings</vt:lpstr>
      <vt:lpstr>Calibri</vt:lpstr>
      <vt:lpstr>MS PGothic</vt:lpstr>
      <vt:lpstr>Arial</vt:lpstr>
      <vt:lpstr>Times New Roman</vt:lpstr>
      <vt:lpstr>Times New Roman</vt:lpstr>
      <vt:lpstr>Calibri</vt:lpstr>
      <vt:lpstr>Fraunces Extra Bold</vt:lpstr>
      <vt:lpstr>Nobile</vt:lpstr>
      <vt:lpstr>Microsoft YaHei</vt:lpstr>
      <vt:lpstr>Arial Unicode MS</vt:lpstr>
      <vt:lpstr>DejaVu Sans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CCC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Mannan</cp:lastModifiedBy>
  <cp:revision>2301</cp:revision>
  <dcterms:created xsi:type="dcterms:W3CDTF">2010-04-09T07:36:00Z</dcterms:created>
  <dcterms:modified xsi:type="dcterms:W3CDTF">2026-04-29T21:53:41Z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y fmtid="{D5CDD505-2E9C-101B-9397-08002B2CF9AE}" pid="14" name="ICV">
    <vt:lpwstr>4FEEC2180F574DA7AC882437439CEEB2_12</vt:lpwstr>
  </property>
  <property fmtid="{D5CDD505-2E9C-101B-9397-08002B2CF9AE}" pid="15" name="KSOProductBuildVer">
    <vt:lpwstr>1033-12.1.0.25242</vt:lpwstr>
  </property>
</Properties>
</file>